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jfif" ContentType="image/jpe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9"/>
  </p:notesMasterIdLst>
  <p:handoutMasterIdLst>
    <p:handoutMasterId r:id="rId20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4" r:id="rId12"/>
    <p:sldId id="345" r:id="rId13"/>
    <p:sldId id="346" r:id="rId14"/>
    <p:sldId id="341" r:id="rId15"/>
    <p:sldId id="342" r:id="rId16"/>
    <p:sldId id="343" r:id="rId17"/>
    <p:sldId id="30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419AE38-882F-1515-E21D-2DA2765CE3A3}" v="2" dt="2026-09-02T10:33:37.143"/>
    <p1510:client id="{BA573E70-4CE7-E3DA-403D-1D1B358A6CED}" v="45" dt="2026-09-02T10:11:53.372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2" d="100"/>
          <a:sy n="82" d="100"/>
        </p:scale>
        <p:origin x="624" y="72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9/3/2026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9/3/2026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.jf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2.png"/><Relationship Id="rId3" Type="http://schemas.openxmlformats.org/officeDocument/2006/relationships/image" Target="../media/image1.jf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.jf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-223157" y="3583914"/>
            <a:ext cx="3400089" cy="861497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sz="1800" b="0"/>
              <a:t>Mrunal Kanade</a:t>
            </a:r>
            <a:br/>
            <a:r>
              <a:rPr sz="1800" b="0"/>
              <a:t>College Name: [Add college name]</a:t>
            </a:r>
            <a:endParaRPr lang="en-IN" b="0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364" y="2844750"/>
            <a:ext cx="4998720" cy="743448"/>
          </a:xfrm>
        </p:spPr>
        <p:txBody>
          <a:bodyPr>
            <a:normAutofit/>
          </a:bodyPr>
          <a:lstStyle/>
          <a:p>
            <a:r>
              <a:rPr sz="2500" b="0"/>
              <a:t>Seasonal Agriculture</a:t>
            </a:r>
            <a:br/>
            <a:r>
              <a:rPr sz="2500" b="0"/>
              <a:t>Performance Analysis</a:t>
            </a:r>
            <a:endParaRPr lang="en-IN" sz="3200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F04107-8754-E47D-3375-529E689711FA}"/>
              </a:ext>
            </a:extLst>
          </p:cNvPr>
          <p:cNvSpPr txBox="1"/>
          <p:nvPr/>
        </p:nvSpPr>
        <p:spPr>
          <a:xfrm>
            <a:off x="957406" y="4576469"/>
            <a:ext cx="31763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500" b="1"/>
              <a:t>AICTE STU ID : [Add ID from offer letter]</a:t>
            </a:r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6480" y="1875556"/>
            <a:ext cx="6431280" cy="3607987"/>
          </a:xfrm>
        </p:spPr>
        <p:txBody>
          <a:bodyPr vert="horz" lIns="91440" tIns="45720" rIns="91440" bIns="45720" rtlCol="0" anchor="t">
            <a:normAutofit fontScale="70000" lnSpcReduction="20000"/>
          </a:bodyPr>
          <a:lstStyle/>
          <a:p>
            <a:pPr>
              <a:lnSpc>
                <a:spcPct val="100000"/>
              </a:lnSpc>
            </a:pPr>
            <a:r>
              <a:rPr sz="1700" b="0"/>
              <a:t>Agricultural performance changes with season because weather, soil conditions, water use, crop choice and market conditions are not constant.</a:t>
            </a:r>
            <a:br/>
            <a:br/>
            <a:r>
              <a:rPr sz="1700" b="0"/>
              <a:t>This project uses the provided agricultural dataset to compare Kharif, Rabi and Zaid seasons and identify meaningful differences in yield, production, profitability, water efficiency, risk and resource use.</a:t>
            </a:r>
            <a:br/>
            <a:br/>
            <a:r>
              <a:rPr sz="1700" b="0"/>
              <a:t>The analysis combines data cleaning, exploratory analysis, visualization, correlation and statistical testing to turn the raw records into evidence-based findings.</a:t>
            </a:r>
            <a:endParaRPr lang="en-IN" sz="28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sz="3000" b="1"/>
              <a:t>PROBLEM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6276109" cy="830997"/>
          </a:xfrm>
        </p:spPr>
        <p:txBody>
          <a:bodyPr>
            <a:normAutofit fontScale="90000"/>
          </a:bodyPr>
          <a:lstStyle/>
          <a:p>
            <a:r>
              <a:rPr sz="2800" b="1"/>
              <a:t>Project Description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1600200"/>
            <a:ext cx="950976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D2D2D"/>
                </a:solidFill>
                <a:latin typeface="Aptos"/>
              </a:rPr>
              <a:t>Dataset: 4,000 agricultural records covering multiple crops, states and seasons.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D2D2D"/>
                </a:solidFill>
                <a:latin typeface="Aptos"/>
              </a:rPr>
              <a:t>Data preparation: checked duplicates, missing values, negative values and formula consistency before analysis.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D2D2D"/>
                </a:solidFill>
                <a:latin typeface="Aptos"/>
              </a:rPr>
              <a:t>Seasonal analysis: compared yield, production, profit, water efficiency, environmental conditions and disease/pest risk.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D2D2D"/>
                </a:solidFill>
                <a:latin typeface="Aptos"/>
              </a:rPr>
              <a:t>Deeper analysis: crop–season patterns, irrigation mix, state performance, correlations, outliers and statistical significance.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D2D2D"/>
                </a:solidFill>
                <a:latin typeface="Aptos"/>
              </a:rPr>
              <a:t>Goal: identify which seasons perform better and explain the patterns without treating correlation as causation.</a:t>
            </a:r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22960" y="1737360"/>
            <a:ext cx="288036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/>
          <a:lstStyle/>
          <a:p>
            <a:pPr algn="l"/>
            <a:r>
              <a:rPr sz="1600" b="1">
                <a:solidFill>
                  <a:srgbClr val="2D2D2D"/>
                </a:solidFill>
                <a:latin typeface="Aptos"/>
              </a:rPr>
              <a:t>Farmers &amp;</a:t>
            </a:r>
            <a:br/>
            <a:r>
              <a:rPr sz="1600" b="1">
                <a:solidFill>
                  <a:srgbClr val="2D2D2D"/>
                </a:solidFill>
                <a:latin typeface="Aptos"/>
              </a:rPr>
              <a:t>Farm Managers</a:t>
            </a:r>
            <a:br/>
            <a:br/>
            <a:r>
              <a:rPr sz="1600" b="1">
                <a:solidFill>
                  <a:srgbClr val="2D2D2D"/>
                </a:solidFill>
                <a:latin typeface="Aptos"/>
              </a:rPr>
              <a:t>Use seasonal yield,</a:t>
            </a:r>
            <a:br/>
            <a:r>
              <a:rPr sz="1600" b="1">
                <a:solidFill>
                  <a:srgbClr val="2D2D2D"/>
                </a:solidFill>
                <a:latin typeface="Aptos"/>
              </a:rPr>
              <a:t>profit and water insights</a:t>
            </a:r>
            <a:br/>
            <a:r>
              <a:rPr sz="1600" b="1">
                <a:solidFill>
                  <a:srgbClr val="2D2D2D"/>
                </a:solidFill>
                <a:latin typeface="Aptos"/>
              </a:rPr>
              <a:t>to support planning.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1737360"/>
            <a:ext cx="288036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/>
          <a:lstStyle/>
          <a:p>
            <a:pPr algn="l"/>
            <a:r>
              <a:rPr sz="1600" b="1">
                <a:solidFill>
                  <a:srgbClr val="2D2D2D"/>
                </a:solidFill>
                <a:latin typeface="Aptos"/>
              </a:rPr>
              <a:t>Agricultural</a:t>
            </a:r>
            <a:br/>
            <a:r>
              <a:rPr sz="1600" b="1">
                <a:solidFill>
                  <a:srgbClr val="2D2D2D"/>
                </a:solidFill>
                <a:latin typeface="Aptos"/>
              </a:rPr>
              <a:t>Advisors</a:t>
            </a:r>
            <a:br/>
            <a:br/>
            <a:r>
              <a:rPr sz="1600" b="1">
                <a:solidFill>
                  <a:srgbClr val="2D2D2D"/>
                </a:solidFill>
                <a:latin typeface="Aptos"/>
              </a:rPr>
              <a:t>Compare crops, risks</a:t>
            </a:r>
            <a:br/>
            <a:r>
              <a:rPr sz="1600" b="1">
                <a:solidFill>
                  <a:srgbClr val="2D2D2D"/>
                </a:solidFill>
                <a:latin typeface="Aptos"/>
              </a:rPr>
              <a:t>and resource patterns</a:t>
            </a:r>
            <a:br/>
            <a:r>
              <a:rPr sz="1600" b="1">
                <a:solidFill>
                  <a:srgbClr val="2D2D2D"/>
                </a:solidFill>
                <a:latin typeface="Aptos"/>
              </a:rPr>
              <a:t>across seasons.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9440" y="1737360"/>
            <a:ext cx="288036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/>
          <a:lstStyle/>
          <a:p>
            <a:pPr algn="l"/>
            <a:r>
              <a:rPr sz="1600" b="1">
                <a:solidFill>
                  <a:srgbClr val="2D2D2D"/>
                </a:solidFill>
                <a:latin typeface="Aptos"/>
              </a:rPr>
              <a:t>Researchers &amp;</a:t>
            </a:r>
            <a:br/>
            <a:r>
              <a:rPr sz="1600" b="1">
                <a:solidFill>
                  <a:srgbClr val="2D2D2D"/>
                </a:solidFill>
                <a:latin typeface="Aptos"/>
              </a:rPr>
              <a:t>Policy Planners</a:t>
            </a:r>
            <a:br/>
            <a:br/>
            <a:r>
              <a:rPr sz="1600" b="1">
                <a:solidFill>
                  <a:srgbClr val="2D2D2D"/>
                </a:solidFill>
                <a:latin typeface="Aptos"/>
              </a:rPr>
              <a:t>Use evidence on seasonal</a:t>
            </a:r>
            <a:br/>
            <a:r>
              <a:rPr sz="1600" b="1">
                <a:solidFill>
                  <a:srgbClr val="2D2D2D"/>
                </a:solidFill>
                <a:latin typeface="Aptos"/>
              </a:rPr>
              <a:t>variation for further</a:t>
            </a:r>
            <a:br/>
            <a:r>
              <a:rPr sz="1600" b="1">
                <a:solidFill>
                  <a:srgbClr val="2D2D2D"/>
                </a:solidFill>
                <a:latin typeface="Aptos"/>
              </a:rPr>
              <a:t>study and interventions.</a:t>
            </a:r>
          </a:p>
        </p:txBody>
      </p:sp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1554480"/>
            <a:ext cx="20116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/>
          <a:lstStyle/>
          <a:p>
            <a:pPr algn="l"/>
            <a:r>
              <a:rPr sz="1500" b="1">
                <a:solidFill>
                  <a:srgbClr val="2D2D2D"/>
                </a:solidFill>
                <a:latin typeface="Aptos"/>
              </a:rPr>
              <a:t>Python</a:t>
            </a:r>
            <a:br/>
            <a:r>
              <a:rPr sz="1500" b="1">
                <a:solidFill>
                  <a:srgbClr val="2D2D2D"/>
                </a:solidFill>
                <a:latin typeface="Aptos"/>
              </a:rPr>
              <a:t>Data analysis &amp; automation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71800" y="1554480"/>
            <a:ext cx="20116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/>
          <a:lstStyle/>
          <a:p>
            <a:pPr algn="l"/>
            <a:r>
              <a:rPr sz="1500" b="1">
                <a:solidFill>
                  <a:srgbClr val="2D2D2D"/>
                </a:solidFill>
                <a:latin typeface="Aptos"/>
              </a:rPr>
              <a:t>Pandas</a:t>
            </a:r>
            <a:br/>
            <a:r>
              <a:rPr sz="1500" b="1">
                <a:solidFill>
                  <a:srgbClr val="2D2D2D"/>
                </a:solidFill>
                <a:latin typeface="Aptos"/>
              </a:rPr>
              <a:t>Data cleaning &amp; aggregation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12080" y="1554480"/>
            <a:ext cx="20116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/>
          <a:lstStyle/>
          <a:p>
            <a:pPr algn="l"/>
            <a:r>
              <a:rPr sz="1500" b="1">
                <a:solidFill>
                  <a:srgbClr val="2D2D2D"/>
                </a:solidFill>
                <a:latin typeface="Aptos"/>
              </a:rPr>
              <a:t>NumPy</a:t>
            </a:r>
            <a:br/>
            <a:r>
              <a:rPr sz="1500" b="1">
                <a:solidFill>
                  <a:srgbClr val="2D2D2D"/>
                </a:solidFill>
                <a:latin typeface="Aptos"/>
              </a:rPr>
              <a:t>Numerical operations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1554480"/>
            <a:ext cx="20116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/>
          <a:lstStyle/>
          <a:p>
            <a:pPr algn="l"/>
            <a:r>
              <a:rPr sz="1400" b="1">
                <a:solidFill>
                  <a:srgbClr val="2D2D2D"/>
                </a:solidFill>
                <a:latin typeface="Aptos"/>
              </a:rPr>
              <a:t>Matplotlib / Seaborn</a:t>
            </a:r>
            <a:br/>
            <a:r>
              <a:rPr sz="1400" b="1">
                <a:solidFill>
                  <a:srgbClr val="2D2D2D"/>
                </a:solidFill>
                <a:latin typeface="Aptos"/>
              </a:rPr>
              <a:t>Visualization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0" y="3063240"/>
            <a:ext cx="24688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/>
          <a:lstStyle/>
          <a:p>
            <a:pPr algn="l"/>
            <a:r>
              <a:rPr sz="1500" b="1">
                <a:solidFill>
                  <a:srgbClr val="2D2D2D"/>
                </a:solidFill>
                <a:latin typeface="Aptos"/>
              </a:rPr>
              <a:t>SciPy</a:t>
            </a:r>
            <a:br/>
            <a:r>
              <a:rPr sz="1500" b="1">
                <a:solidFill>
                  <a:srgbClr val="2D2D2D"/>
                </a:solidFill>
                <a:latin typeface="Aptos"/>
              </a:rPr>
              <a:t>ANOVA &amp; Kruskal–Wallis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0" y="3063240"/>
            <a:ext cx="24688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/>
          <a:lstStyle/>
          <a:p>
            <a:pPr algn="l"/>
            <a:r>
              <a:rPr sz="1500" b="1">
                <a:solidFill>
                  <a:srgbClr val="2D2D2D"/>
                </a:solidFill>
                <a:latin typeface="Aptos"/>
              </a:rPr>
              <a:t>Scikit-learn</a:t>
            </a:r>
            <a:br/>
            <a:r>
              <a:rPr sz="1500" b="1">
                <a:solidFill>
                  <a:srgbClr val="2D2D2D"/>
                </a:solidFill>
                <a:latin typeface="Aptos"/>
              </a:rPr>
              <a:t>Scaling for composite score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3063240"/>
            <a:ext cx="24688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/>
          <a:lstStyle/>
          <a:p>
            <a:pPr algn="l"/>
            <a:r>
              <a:rPr sz="1500" b="1">
                <a:solidFill>
                  <a:srgbClr val="2D2D2D"/>
                </a:solidFill>
                <a:latin typeface="Aptos"/>
              </a:rPr>
              <a:t>Jupyter Notebook</a:t>
            </a:r>
            <a:br/>
            <a:r>
              <a:rPr sz="1500" b="1">
                <a:solidFill>
                  <a:srgbClr val="2D2D2D"/>
                </a:solidFill>
                <a:latin typeface="Aptos"/>
              </a:rPr>
              <a:t>Analysis &amp; reproducibility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sz="3000" b="1"/>
              <a:t>RESULTS</a:t>
            </a:r>
            <a:endParaRPr lang="en-IN" dirty="0"/>
          </a:p>
        </p:txBody>
      </p:sp>
      <p:sp>
        <p:nvSpPr>
          <p:cNvPr id="24" name="Rounded Rectangle 23"/>
          <p:cNvSpPr/>
          <p:nvPr/>
        </p:nvSpPr>
        <p:spPr>
          <a:xfrm>
            <a:off x="594360" y="1325880"/>
            <a:ext cx="3063240" cy="960120"/>
          </a:xfrm>
          <a:prstGeom prst="roundRect">
            <a:avLst/>
          </a:prstGeom>
          <a:solidFill>
            <a:srgbClr val="EFF8FC"/>
          </a:solidFill>
          <a:ln>
            <a:solidFill>
              <a:srgbClr val="AAD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/>
          <a:lstStyle/>
          <a:p>
            <a:pPr algn="ctr"/>
            <a:r>
              <a:rPr sz="1500" b="1">
                <a:solidFill>
                  <a:srgbClr val="2D2D2D"/>
                </a:solidFill>
                <a:latin typeface="Aptos"/>
              </a:rPr>
              <a:t>Highest average yield</a:t>
            </a:r>
            <a:br/>
            <a:r>
              <a:rPr sz="1500" b="1">
                <a:solidFill>
                  <a:srgbClr val="2D2D2D"/>
                </a:solidFill>
                <a:latin typeface="Aptos"/>
              </a:rPr>
              <a:t>Kharif — 5.63 t/ha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86200" y="1325880"/>
            <a:ext cx="3063240" cy="960120"/>
          </a:xfrm>
          <a:prstGeom prst="roundRect">
            <a:avLst/>
          </a:prstGeom>
          <a:solidFill>
            <a:srgbClr val="EFF8FC"/>
          </a:solidFill>
          <a:ln>
            <a:solidFill>
              <a:srgbClr val="AAD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/>
          <a:lstStyle/>
          <a:p>
            <a:pPr algn="ctr"/>
            <a:r>
              <a:rPr sz="1500" b="1">
                <a:solidFill>
                  <a:srgbClr val="2D2D2D"/>
                </a:solidFill>
                <a:latin typeface="Aptos"/>
              </a:rPr>
              <a:t>Best weighted margin</a:t>
            </a:r>
            <a:br/>
            <a:r>
              <a:rPr sz="1500" b="1">
                <a:solidFill>
                  <a:srgbClr val="2D2D2D"/>
                </a:solidFill>
                <a:latin typeface="Aptos"/>
              </a:rPr>
              <a:t>Kharif — 25.2%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78040" y="1325880"/>
            <a:ext cx="3063240" cy="960120"/>
          </a:xfrm>
          <a:prstGeom prst="roundRect">
            <a:avLst/>
          </a:prstGeom>
          <a:solidFill>
            <a:srgbClr val="EFF8FC"/>
          </a:solidFill>
          <a:ln>
            <a:solidFill>
              <a:srgbClr val="AAD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/>
          <a:lstStyle/>
          <a:p>
            <a:pPr algn="ctr"/>
            <a:r>
              <a:rPr sz="1500" b="1">
                <a:solidFill>
                  <a:srgbClr val="2D2D2D"/>
                </a:solidFill>
                <a:latin typeface="Aptos"/>
              </a:rPr>
              <a:t>Highest water efficiency</a:t>
            </a:r>
            <a:br/>
            <a:r>
              <a:rPr sz="1500" b="1">
                <a:solidFill>
                  <a:srgbClr val="2D2D2D"/>
                </a:solidFill>
                <a:latin typeface="Aptos"/>
              </a:rPr>
              <a:t>Kharif — 5.89 t/1000m³</a:t>
            </a:r>
          </a:p>
        </p:txBody>
      </p:sp>
      <p:pic>
        <p:nvPicPr>
          <p:cNvPr id="27" name="Picture 26" descr="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14600"/>
            <a:ext cx="4526280" cy="2232965"/>
          </a:xfrm>
          <a:prstGeom prst="rect">
            <a:avLst/>
          </a:prstGeom>
        </p:spPr>
      </p:pic>
      <p:pic>
        <p:nvPicPr>
          <p:cNvPr id="28" name="Picture 27" descr="profit_marg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2514600"/>
            <a:ext cx="4526280" cy="223296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7240" y="544068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82828"/>
                </a:solidFill>
                <a:latin typeface="Aptos"/>
              </a:rPr>
              <a:t>Overall pattern: Kharif leads on yield, profitability and water efficiency; Zaid is the weakest on these measures.</a:t>
            </a:r>
          </a:p>
        </p:txBody>
      </p:sp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sz="3000" b="1"/>
              <a:t>RESULTS</a:t>
            </a:r>
            <a:endParaRPr lang="en-IN" dirty="0"/>
          </a:p>
        </p:txBody>
      </p:sp>
      <p:pic>
        <p:nvPicPr>
          <p:cNvPr id="31" name="Picture 30" descr="cod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34440"/>
            <a:ext cx="4754880" cy="1810989"/>
          </a:xfrm>
          <a:prstGeom prst="rect">
            <a:avLst/>
          </a:prstGeom>
        </p:spPr>
      </p:pic>
      <p:pic>
        <p:nvPicPr>
          <p:cNvPr id="32" name="Picture 31" descr="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1234440"/>
            <a:ext cx="4343400" cy="2142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85800" y="3794760"/>
            <a:ext cx="914400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2D2D2D"/>
                </a:solidFill>
                <a:latin typeface="Aptos"/>
              </a:rPr>
              <a:t>Kharif: 5.63 t/ha average yield.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2D2D"/>
                </a:solidFill>
                <a:latin typeface="Aptos"/>
              </a:rPr>
              <a:t>Rabi: 5.04 t/ha; Zaid: 4.64 t/ha.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2D2D"/>
                </a:solidFill>
                <a:latin typeface="Aptos"/>
              </a:rPr>
              <a:t>Seasonal averages are useful for comparison, but crop mix differs by season, so results should not be read as a pure weather effect.</a:t>
            </a:r>
          </a:p>
        </p:txBody>
      </p:sp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6E6C7-69F2-D361-F3CC-FC5268D9BC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FCD5524-F764-DC63-6F54-D48057CF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sz="3000" b="1"/>
              <a:t>RESULTS</a:t>
            </a:r>
            <a:endParaRPr lang="en-IN" dirty="0"/>
          </a:p>
        </p:txBody>
      </p:sp>
      <p:pic>
        <p:nvPicPr>
          <p:cNvPr id="31" name="Picture 30" descr="cod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88720"/>
            <a:ext cx="4754880" cy="1703487"/>
          </a:xfrm>
          <a:prstGeom prst="rect">
            <a:avLst/>
          </a:prstGeom>
        </p:spPr>
      </p:pic>
      <p:pic>
        <p:nvPicPr>
          <p:cNvPr id="32" name="Picture 31" descr="profit_marg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188720"/>
            <a:ext cx="4297680" cy="212018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85800" y="3749039"/>
            <a:ext cx="9144000" cy="1554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2D2D2D"/>
                </a:solidFill>
                <a:latin typeface="Aptos"/>
              </a:rPr>
              <a:t>Weighted profit margin: Kharif 25.2%, Rabi 14.6%, Zaid -4.8%.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2D2D"/>
                </a:solidFill>
                <a:latin typeface="Aptos"/>
              </a:rPr>
              <a:t>Average profit: Kharif ₹178,915; Zaid shows an average loss of ₹24,805.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2D2D"/>
                </a:solidFill>
                <a:latin typeface="Aptos"/>
              </a:rPr>
              <a:t>Loss-making records: Kharif 42.2%, Rabi 51.1%, Zaid 64.5%.</a:t>
            </a:r>
          </a:p>
        </p:txBody>
      </p:sp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D7CE81-8696-30A4-F33E-B4B569D350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FD49EE-0956-AAE3-737B-15F7D42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sz="3000" b="1"/>
              <a:t>RESULTS</a:t>
            </a:r>
            <a:endParaRPr lang="en-IN" dirty="0"/>
          </a:p>
        </p:txBody>
      </p:sp>
      <p:pic>
        <p:nvPicPr>
          <p:cNvPr id="31" name="Picture 30" descr="cod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3000"/>
            <a:ext cx="4754880" cy="1810989"/>
          </a:xfrm>
          <a:prstGeom prst="rect">
            <a:avLst/>
          </a:prstGeom>
        </p:spPr>
      </p:pic>
      <p:pic>
        <p:nvPicPr>
          <p:cNvPr id="32" name="Picture 31" descr="irrig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143000"/>
            <a:ext cx="4297680" cy="212018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85800" y="3703320"/>
            <a:ext cx="91440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2D2D2D"/>
                </a:solidFill>
                <a:latin typeface="Aptos"/>
              </a:rPr>
              <a:t>Average water efficiency: Kharif 5.89, Rabi 5.19, Zaid 4.41 tonnes per 1000 m³.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2D2D"/>
                </a:solidFill>
                <a:latin typeface="Aptos"/>
              </a:rPr>
              <a:t>Kharif has the strongest combined yield and water-efficiency performance in this dataset.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2D2D"/>
                </a:solidFill>
                <a:latin typeface="Aptos"/>
              </a:rPr>
              <a:t>Irrigation methods vary across seasons, providing context for resource-use differences.</a:t>
            </a:r>
          </a:p>
        </p:txBody>
      </p:sp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7611FF-D6E5-400F-ED75-6F5531CFA9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E35150-35BD-1B1F-9A8C-890DBFDF3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sz="3000" b="1"/>
              <a:t>RESULTS</a:t>
            </a:r>
            <a:endParaRPr lang="en-IN" dirty="0"/>
          </a:p>
        </p:txBody>
      </p:sp>
      <p:pic>
        <p:nvPicPr>
          <p:cNvPr id="31" name="Picture 30" descr="cod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3000"/>
            <a:ext cx="4754880" cy="1926760"/>
          </a:xfrm>
          <a:prstGeom prst="rect">
            <a:avLst/>
          </a:prstGeom>
        </p:spPr>
      </p:pic>
      <p:pic>
        <p:nvPicPr>
          <p:cNvPr id="32" name="Picture 31" descr="crop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051560"/>
            <a:ext cx="4297680" cy="252130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85800" y="3657600"/>
            <a:ext cx="9144000" cy="1691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2D2D2D"/>
                </a:solidFill>
                <a:latin typeface="Aptos"/>
              </a:rPr>
              <a:t>Yield ANOVA: p = 0.214 (not significant at 5%).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D2D2D"/>
                </a:solidFill>
                <a:latin typeface="Aptos"/>
              </a:rPr>
              <a:t>Kruskal–Wallis yield test: p &lt; 0.001, indicating a significant difference in yield distributions across seasons.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D2D2D"/>
                </a:solidFill>
                <a:latin typeface="Aptos"/>
              </a:rPr>
              <a:t>Profit differences are also statistically significant (ANOVA p &lt; 0.001).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D2D2D"/>
                </a:solidFill>
                <a:latin typeface="Aptos"/>
              </a:rPr>
              <a:t>Correlation analysis shows water used has the strongest direct association with yield (r ≈ 0.39); this is an association, not proof of causation.</a:t>
            </a:r>
          </a:p>
        </p:txBody>
      </p:sp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506C61-5206-F1DF-9994-DED24DFB1C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B097C2C-D75A-31D4-CD9F-366F39CD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sz="3000" b="1"/>
              <a:t>Future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1325880"/>
            <a:ext cx="91440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D2D2D"/>
                </a:solidFill>
                <a:latin typeface="Aptos"/>
              </a:rPr>
              <a:t>Build an interactive dashboard in Power BI or Tableau for season, crop and state-level filtering.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D2D2D"/>
                </a:solidFill>
                <a:latin typeface="Aptos"/>
              </a:rPr>
              <a:t>Add multi-year historical data to study trends rather than a single dataset snapshot.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D2D2D"/>
                </a:solidFill>
                <a:latin typeface="Aptos"/>
              </a:rPr>
              <a:t>Use weather forecasts and soil sensors for near-real-time decision support.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D2D2D"/>
                </a:solidFill>
                <a:latin typeface="Aptos"/>
              </a:rPr>
              <a:t>Develop predictive models for yield, profitability and water requirement.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D2D2D"/>
                </a:solidFill>
                <a:latin typeface="Aptos"/>
              </a:rPr>
              <a:t>Include market-price forecasting and crop-selection recommendations.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D2D2D"/>
                </a:solidFill>
                <a:latin typeface="Aptos"/>
              </a:rPr>
              <a:t>Validate findings with field-level domain expertise before operational use.</a:t>
            </a:r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44118A-0276-9E2F-E0E8-85CEE9F1E0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01A2257-2F98-CB88-038E-C0F1D0A1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sz="3000" b="1"/>
              <a:t>GitHub Link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182880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82828"/>
                </a:solidFill>
                <a:latin typeface="Aptos"/>
              </a:rPr>
              <a:t>Project repository: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2514600"/>
            <a:ext cx="8595360" cy="1005840"/>
          </a:xfrm>
          <a:prstGeom prst="roundRect">
            <a:avLst/>
          </a:prstGeom>
          <a:solidFill>
            <a:srgbClr val="F5F8FA"/>
          </a:solidFill>
          <a:ln>
            <a:solidFill>
              <a:srgbClr val="BE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/>
          <a:lstStyle/>
          <a:p>
            <a:pPr algn="ctr"/>
            <a:r>
              <a:rPr sz="1700" b="0">
                <a:solidFill>
                  <a:srgbClr val="2D2D2D"/>
                </a:solidFill>
                <a:latin typeface="Aptos"/>
              </a:rPr>
              <a:t>[Add your Seasonal Agriculture Performance Analysis GitHub repository link]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379476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Aptos"/>
              </a:rPr>
              <a:t>The template contained a different repository link, so it was not copied into the final presentation.</a:t>
            </a:r>
          </a:p>
        </p:txBody>
      </p:sp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12FC48-BC6E-8635-A49E-73EF17CEDC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B692F6-18B4-BC16-EA0C-48FFBD56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8351388" cy="884658"/>
          </a:xfrm>
        </p:spPr>
        <p:txBody>
          <a:bodyPr>
            <a:normAutofit fontScale="90000"/>
          </a:bodyPr>
          <a:lstStyle/>
          <a:p>
            <a:r>
              <a:rPr sz="2400" b="1"/>
              <a:t>VOIS Course Completion Certificate</a:t>
            </a:r>
            <a:br/>
            <a:r>
              <a:rPr sz="2400" b="1"/>
              <a:t>Course name – Data Visualization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28800" y="1554480"/>
            <a:ext cx="6766560" cy="3108960"/>
          </a:xfrm>
          <a:prstGeom prst="roundRect">
            <a:avLst/>
          </a:prstGeom>
          <a:solidFill>
            <a:srgbClr val="F8F8F8"/>
          </a:solidFill>
          <a:ln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/>
          <a:lstStyle/>
          <a:p>
            <a:pPr algn="ctr"/>
            <a:r>
              <a:rPr sz="2000" b="1">
                <a:solidFill>
                  <a:srgbClr val="2D2D2D"/>
                </a:solidFill>
                <a:latin typeface="Aptos"/>
              </a:rPr>
              <a:t>CERTIFICATE</a:t>
            </a:r>
            <a:br/>
            <a:br/>
            <a:r>
              <a:rPr sz="2000" b="1">
                <a:solidFill>
                  <a:srgbClr val="2D2D2D"/>
                </a:solidFill>
                <a:latin typeface="Aptos"/>
              </a:rPr>
              <a:t>VOIS Course Completion</a:t>
            </a:r>
            <a:br/>
            <a:r>
              <a:rPr sz="2000" b="1">
                <a:solidFill>
                  <a:srgbClr val="2D2D2D"/>
                </a:solidFill>
                <a:latin typeface="Aptos"/>
              </a:rPr>
              <a:t>Data Visualization</a:t>
            </a:r>
            <a:br/>
            <a:br/>
            <a:r>
              <a:rPr sz="2000" b="1">
                <a:solidFill>
                  <a:srgbClr val="2D2D2D"/>
                </a:solidFill>
                <a:latin typeface="Aptos"/>
              </a:rPr>
              <a:t>[Insert certificate screenshot here]</a:t>
            </a:r>
          </a:p>
        </p:txBody>
      </p:sp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sz="3400" b="1"/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975013" y="3962573"/>
            <a:ext cx="2139696" cy="344312"/>
          </a:xfrm>
        </p:spPr>
        <p:txBody>
          <a:bodyPr>
            <a:normAutofit fontScale="92500" lnSpcReduction="20000"/>
          </a:bodyPr>
          <a:lstStyle/>
          <a:p>
            <a:endParaRPr lang="en-IN" dirty="0"/>
          </a:p>
        </p:txBody>
      </p:sp>
      <p:sp>
        <p:nvSpPr>
          <p:cNvPr id="46" name="TextBox 45"/>
          <p:cNvSpPr txBox="1"/>
          <p:nvPr/>
        </p:nvSpPr>
        <p:spPr>
          <a:xfrm>
            <a:off x="2743200" y="36576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82828"/>
                </a:solidFill>
                <a:latin typeface="Aptos"/>
              </a:rPr>
              <a:t>Questions / Discussion</a:t>
            </a:r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1356</TotalTime>
  <Words>202</Words>
  <Application>Microsoft Office PowerPoint</Application>
  <PresentationFormat>Widescreen</PresentationFormat>
  <Paragraphs>26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Trebuchet MS</vt:lpstr>
      <vt:lpstr>Wingdings</vt:lpstr>
      <vt:lpstr>Wingdings 3</vt:lpstr>
      <vt:lpstr>Facet</vt:lpstr>
      <vt:lpstr>Project Title -</vt:lpstr>
      <vt:lpstr>PROBLEM  STATEMENT</vt:lpstr>
      <vt:lpstr>Project Description [write detail description about your project ]  </vt:lpstr>
      <vt:lpstr>WHO ARE THE END USERS?</vt:lpstr>
      <vt:lpstr>Technology Used</vt:lpstr>
      <vt:lpstr>RESULTS </vt:lpstr>
      <vt:lpstr>RESULTS </vt:lpstr>
      <vt:lpstr>RESULTS </vt:lpstr>
      <vt:lpstr>RESULTS </vt:lpstr>
      <vt:lpstr>RESULTS </vt:lpstr>
      <vt:lpstr>Future scope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Aswini Kumar Motapothula</cp:lastModifiedBy>
  <cp:revision>98</cp:revision>
  <dcterms:created xsi:type="dcterms:W3CDTF">2021-07-11T13:13:15Z</dcterms:created>
  <dcterms:modified xsi:type="dcterms:W3CDTF">2026-09-04T02:42:44Z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