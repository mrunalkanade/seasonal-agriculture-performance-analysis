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p:scale>
          <a:sx n="66" d="100"/>
          <a:sy n="66" d="100"/>
        </p:scale>
        <p:origin x="588" y="220"/>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9/5/2026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9/5/2026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9/5/2026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9/5/2026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9/5/2026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MrunalKanade/Seasonal-Agriculture-Performance-Analysis"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4998720" cy="743448"/>
          </a:xfrm>
        </p:spPr>
        <p:txBody>
          <a:bodyPr>
            <a:normAutofit fontScale="90000"/>
          </a:bodyPr>
          <a:lstStyle/>
          <a:p>
            <a:r>
              <a:rPr sz="2500" b="0"/>
              <a:t>Seasonal Agriculture</a:t>
            </a:r>
            <a:br/>
            <a:r>
              <a:rPr sz="2500" b="0"/>
              <a:t>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06392" y="4577423"/>
            <a:ext cx="4625247" cy="323165"/>
          </a:xfrm>
          <a:prstGeom prst="rect">
            <a:avLst/>
          </a:prstGeom>
          <a:noFill/>
        </p:spPr>
        <p:txBody>
          <a:bodyPr wrap="square" rtlCol="0">
            <a:spAutoFit/>
          </a:bodyPr>
          <a:lstStyle/>
          <a:p>
            <a:r>
              <a:rPr sz="1500" b="1" dirty="0"/>
              <a:t>AICTE STU ID :</a:t>
            </a:r>
            <a:r>
              <a:rPr lang="en-IN" sz="1500" b="1" dirty="0"/>
              <a:t>STU682b3f7e428531747664766</a:t>
            </a:r>
            <a:endParaRPr sz="1500" b="1" dirty="0"/>
          </a:p>
        </p:txBody>
      </p:sp>
      <p:sp>
        <p:nvSpPr>
          <p:cNvPr id="5" name="TextBox 4">
            <a:extLst>
              <a:ext uri="{FF2B5EF4-FFF2-40B4-BE49-F238E27FC236}">
                <a16:creationId xmlns:a16="http://schemas.microsoft.com/office/drawing/2014/main" id="{4410C3A7-EC1F-39B3-5B32-2565469A102B}"/>
              </a:ext>
            </a:extLst>
          </p:cNvPr>
          <p:cNvSpPr txBox="1"/>
          <p:nvPr/>
        </p:nvSpPr>
        <p:spPr>
          <a:xfrm>
            <a:off x="606392" y="3782728"/>
            <a:ext cx="9615637" cy="923330"/>
          </a:xfrm>
          <a:prstGeom prst="rect">
            <a:avLst/>
          </a:prstGeom>
          <a:noFill/>
        </p:spPr>
        <p:txBody>
          <a:bodyPr wrap="square" rtlCol="0">
            <a:spAutoFit/>
          </a:bodyPr>
          <a:lstStyle/>
          <a:p>
            <a:r>
              <a:rPr lang="en-US" dirty="0"/>
              <a:t>Name : Mrunal Kanade           </a:t>
            </a:r>
            <a:br>
              <a:rPr lang="en-US" dirty="0"/>
            </a:br>
            <a:r>
              <a:rPr lang="en-US" dirty="0"/>
              <a:t>College Name: Modern Education Society’s Wadia College of Engineering, Pune</a:t>
            </a:r>
          </a:p>
          <a:p>
            <a:endParaRPr lang="en-IN"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a:bodyPr>
          <a:lstStyle/>
          <a:p>
            <a:pPr>
              <a:lnSpc>
                <a:spcPct val="100000"/>
              </a:lnSpc>
            </a:pPr>
            <a:r>
              <a:rPr lang="en-US" sz="1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a:bodyPr>
          <a:lstStyle/>
          <a:p>
            <a:r>
              <a:rPr sz="3000" b="1"/>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a:bodyPr>
          <a:lstStyle/>
          <a:p>
            <a:r>
              <a:rPr sz="2800" b="1"/>
              <a:t>Project Description</a:t>
            </a: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10" name="TextBox 9"/>
          <p:cNvSpPr txBox="1"/>
          <p:nvPr/>
        </p:nvSpPr>
        <p:spPr>
          <a:xfrm>
            <a:off x="685800" y="1600200"/>
            <a:ext cx="9509760" cy="3840480"/>
          </a:xfrm>
          <a:prstGeom prst="rect">
            <a:avLst/>
          </a:prstGeom>
          <a:noFill/>
        </p:spPr>
        <p:txBody>
          <a:bodyPr wrap="square" lIns="45720" rIns="45720">
            <a:spAutoFit/>
          </a:bodyPr>
          <a:lstStyle/>
          <a:p>
            <a:pPr>
              <a:spcAft>
                <a:spcPts val="800"/>
              </a:spcAft>
            </a:pPr>
            <a:r>
              <a:rPr sz="1600">
                <a:solidFill>
                  <a:srgbClr val="2D2D2D"/>
                </a:solidFill>
                <a:latin typeface="Aptos"/>
              </a:rPr>
              <a:t>Dataset: 4,000 agricultural records covering multiple crops, states and seasons.</a:t>
            </a:r>
          </a:p>
          <a:p>
            <a:pPr>
              <a:spcAft>
                <a:spcPts val="800"/>
              </a:spcAft>
            </a:pPr>
            <a:r>
              <a:rPr sz="1600">
                <a:solidFill>
                  <a:srgbClr val="2D2D2D"/>
                </a:solidFill>
                <a:latin typeface="Aptos"/>
              </a:rPr>
              <a:t>Data preparation: checked duplicates, missing values, negative values and formula consistency before analysis.</a:t>
            </a:r>
          </a:p>
          <a:p>
            <a:pPr>
              <a:spcAft>
                <a:spcPts val="800"/>
              </a:spcAft>
            </a:pPr>
            <a:r>
              <a:rPr sz="1600">
                <a:solidFill>
                  <a:srgbClr val="2D2D2D"/>
                </a:solidFill>
                <a:latin typeface="Aptos"/>
              </a:rPr>
              <a:t>Seasonal analysis: compared yield, production, profit, water efficiency, environmental conditions and disease/pest risk.</a:t>
            </a:r>
          </a:p>
          <a:p>
            <a:pPr>
              <a:spcAft>
                <a:spcPts val="800"/>
              </a:spcAft>
            </a:pPr>
            <a:r>
              <a:rPr sz="1600">
                <a:solidFill>
                  <a:srgbClr val="2D2D2D"/>
                </a:solidFill>
                <a:latin typeface="Aptos"/>
              </a:rPr>
              <a:t>Deeper analysis: crop–season patterns, irrigation mix, state performance, correlations, outliers and statistical significance.</a:t>
            </a:r>
          </a:p>
          <a:p>
            <a:pPr>
              <a:spcAft>
                <a:spcPts val="800"/>
              </a:spcAft>
            </a:pPr>
            <a:r>
              <a:rPr sz="1600">
                <a:solidFill>
                  <a:srgbClr val="2D2D2D"/>
                </a:solidFill>
                <a:latin typeface="Aptos"/>
              </a:rPr>
              <a:t>Goal: identify which seasons perform better and explain the patterns without treating correlation as causation.</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17" name="Rounded Rectangle 16"/>
          <p:cNvSpPr/>
          <p:nvPr/>
        </p:nvSpPr>
        <p:spPr>
          <a:xfrm>
            <a:off x="822960" y="1737360"/>
            <a:ext cx="2880360" cy="3017520"/>
          </a:xfrm>
          <a:prstGeom prst="round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algn="l"/>
            <a:r>
              <a:rPr sz="1600" b="1">
                <a:solidFill>
                  <a:srgbClr val="2D2D2D"/>
                </a:solidFill>
                <a:latin typeface="Aptos"/>
              </a:rPr>
              <a:t>Farmers &amp;</a:t>
            </a:r>
            <a:br/>
            <a:r>
              <a:rPr sz="1600" b="1">
                <a:solidFill>
                  <a:srgbClr val="2D2D2D"/>
                </a:solidFill>
                <a:latin typeface="Aptos"/>
              </a:rPr>
              <a:t>Farm Managers</a:t>
            </a:r>
            <a:br/>
            <a:br/>
            <a:r>
              <a:rPr sz="1600" b="1">
                <a:solidFill>
                  <a:srgbClr val="2D2D2D"/>
                </a:solidFill>
                <a:latin typeface="Aptos"/>
              </a:rPr>
              <a:t>Use seasonal yield,</a:t>
            </a:r>
            <a:br/>
            <a:r>
              <a:rPr sz="1600" b="1">
                <a:solidFill>
                  <a:srgbClr val="2D2D2D"/>
                </a:solidFill>
                <a:latin typeface="Aptos"/>
              </a:rPr>
              <a:t>profit and water insights</a:t>
            </a:r>
            <a:br/>
            <a:r>
              <a:rPr sz="1600" b="1">
                <a:solidFill>
                  <a:srgbClr val="2D2D2D"/>
                </a:solidFill>
                <a:latin typeface="Aptos"/>
              </a:rPr>
              <a:t>to support planning.</a:t>
            </a:r>
          </a:p>
        </p:txBody>
      </p:sp>
      <p:sp>
        <p:nvSpPr>
          <p:cNvPr id="18" name="Rounded Rectangle 17"/>
          <p:cNvSpPr/>
          <p:nvPr/>
        </p:nvSpPr>
        <p:spPr>
          <a:xfrm>
            <a:off x="3886200" y="1737360"/>
            <a:ext cx="2880360" cy="3017520"/>
          </a:xfrm>
          <a:prstGeom prst="round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algn="l"/>
            <a:r>
              <a:rPr sz="1600" b="1">
                <a:solidFill>
                  <a:srgbClr val="2D2D2D"/>
                </a:solidFill>
                <a:latin typeface="Aptos"/>
              </a:rPr>
              <a:t>Agricultural</a:t>
            </a:r>
            <a:br/>
            <a:r>
              <a:rPr sz="1600" b="1">
                <a:solidFill>
                  <a:srgbClr val="2D2D2D"/>
                </a:solidFill>
                <a:latin typeface="Aptos"/>
              </a:rPr>
              <a:t>Advisors</a:t>
            </a:r>
            <a:br/>
            <a:br/>
            <a:r>
              <a:rPr sz="1600" b="1">
                <a:solidFill>
                  <a:srgbClr val="2D2D2D"/>
                </a:solidFill>
                <a:latin typeface="Aptos"/>
              </a:rPr>
              <a:t>Compare crops, risks</a:t>
            </a:r>
            <a:br/>
            <a:r>
              <a:rPr sz="1600" b="1">
                <a:solidFill>
                  <a:srgbClr val="2D2D2D"/>
                </a:solidFill>
                <a:latin typeface="Aptos"/>
              </a:rPr>
              <a:t>and resource patterns</a:t>
            </a:r>
            <a:br/>
            <a:r>
              <a:rPr sz="1600" b="1">
                <a:solidFill>
                  <a:srgbClr val="2D2D2D"/>
                </a:solidFill>
                <a:latin typeface="Aptos"/>
              </a:rPr>
              <a:t>across seasons.</a:t>
            </a:r>
          </a:p>
        </p:txBody>
      </p:sp>
      <p:sp>
        <p:nvSpPr>
          <p:cNvPr id="19" name="Rounded Rectangle 18"/>
          <p:cNvSpPr/>
          <p:nvPr/>
        </p:nvSpPr>
        <p:spPr>
          <a:xfrm>
            <a:off x="6949440" y="1737360"/>
            <a:ext cx="2880360" cy="3017520"/>
          </a:xfrm>
          <a:prstGeom prst="round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algn="l"/>
            <a:r>
              <a:rPr sz="1600" b="1">
                <a:solidFill>
                  <a:srgbClr val="2D2D2D"/>
                </a:solidFill>
                <a:latin typeface="Aptos"/>
              </a:rPr>
              <a:t>Researchers &amp;</a:t>
            </a:r>
            <a:br/>
            <a:r>
              <a:rPr sz="1600" b="1">
                <a:solidFill>
                  <a:srgbClr val="2D2D2D"/>
                </a:solidFill>
                <a:latin typeface="Aptos"/>
              </a:rPr>
              <a:t>Policy Planners</a:t>
            </a:r>
            <a:br/>
            <a:br/>
            <a:r>
              <a:rPr sz="1600" b="1">
                <a:solidFill>
                  <a:srgbClr val="2D2D2D"/>
                </a:solidFill>
                <a:latin typeface="Aptos"/>
              </a:rPr>
              <a:t>Use evidence on seasonal</a:t>
            </a:r>
            <a:br/>
            <a:r>
              <a:rPr sz="1600" b="1">
                <a:solidFill>
                  <a:srgbClr val="2D2D2D"/>
                </a:solidFill>
                <a:latin typeface="Aptos"/>
              </a:rPr>
              <a:t>variation for further</a:t>
            </a:r>
            <a:br/>
            <a:r>
              <a:rPr sz="1600" b="1">
                <a:solidFill>
                  <a:srgbClr val="2D2D2D"/>
                </a:solidFill>
                <a:latin typeface="Aptos"/>
              </a:rPr>
              <a:t>study and interventions.</a:t>
            </a:r>
          </a:p>
        </p:txBody>
      </p:sp>
    </p:spTree>
    <p:extLst>
      <p:ext uri="{BB962C8B-B14F-4D97-AF65-F5344CB8AC3E}">
        <p14:creationId xmlns:p14="http://schemas.microsoft.com/office/powerpoint/2010/main" val="480750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
        <p:nvSpPr>
          <p:cNvPr id="17" name="Rounded Rectangle 16"/>
          <p:cNvSpPr/>
          <p:nvPr/>
        </p:nvSpPr>
        <p:spPr>
          <a:xfrm>
            <a:off x="731520" y="1554480"/>
            <a:ext cx="2011680" cy="1143000"/>
          </a:xfrm>
          <a:prstGeom prst="round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algn="l"/>
            <a:r>
              <a:rPr sz="1500" b="1">
                <a:solidFill>
                  <a:srgbClr val="2D2D2D"/>
                </a:solidFill>
                <a:latin typeface="Aptos"/>
              </a:rPr>
              <a:t>Python</a:t>
            </a:r>
            <a:br/>
            <a:r>
              <a:rPr sz="1500" b="1">
                <a:solidFill>
                  <a:srgbClr val="2D2D2D"/>
                </a:solidFill>
                <a:latin typeface="Aptos"/>
              </a:rPr>
              <a:t>Data analysis &amp; automation</a:t>
            </a:r>
          </a:p>
        </p:txBody>
      </p:sp>
      <p:sp>
        <p:nvSpPr>
          <p:cNvPr id="18" name="Rounded Rectangle 17"/>
          <p:cNvSpPr/>
          <p:nvPr/>
        </p:nvSpPr>
        <p:spPr>
          <a:xfrm>
            <a:off x="2971800" y="1554480"/>
            <a:ext cx="2011680" cy="1143000"/>
          </a:xfrm>
          <a:prstGeom prst="round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algn="l"/>
            <a:r>
              <a:rPr sz="1500" b="1">
                <a:solidFill>
                  <a:srgbClr val="2D2D2D"/>
                </a:solidFill>
                <a:latin typeface="Aptos"/>
              </a:rPr>
              <a:t>Pandas</a:t>
            </a:r>
            <a:br/>
            <a:r>
              <a:rPr sz="1500" b="1">
                <a:solidFill>
                  <a:srgbClr val="2D2D2D"/>
                </a:solidFill>
                <a:latin typeface="Aptos"/>
              </a:rPr>
              <a:t>Data cleaning &amp; aggregation</a:t>
            </a:r>
          </a:p>
        </p:txBody>
      </p:sp>
      <p:sp>
        <p:nvSpPr>
          <p:cNvPr id="19" name="Rounded Rectangle 18"/>
          <p:cNvSpPr/>
          <p:nvPr/>
        </p:nvSpPr>
        <p:spPr>
          <a:xfrm>
            <a:off x="5212080" y="1554480"/>
            <a:ext cx="2011680" cy="1143000"/>
          </a:xfrm>
          <a:prstGeom prst="round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algn="l"/>
            <a:r>
              <a:rPr sz="1500" b="1">
                <a:solidFill>
                  <a:srgbClr val="2D2D2D"/>
                </a:solidFill>
                <a:latin typeface="Aptos"/>
              </a:rPr>
              <a:t>NumPy</a:t>
            </a:r>
            <a:br/>
            <a:r>
              <a:rPr sz="1500" b="1">
                <a:solidFill>
                  <a:srgbClr val="2D2D2D"/>
                </a:solidFill>
                <a:latin typeface="Aptos"/>
              </a:rPr>
              <a:t>Numerical operations</a:t>
            </a:r>
          </a:p>
        </p:txBody>
      </p:sp>
      <p:sp>
        <p:nvSpPr>
          <p:cNvPr id="20" name="Rounded Rectangle 19"/>
          <p:cNvSpPr/>
          <p:nvPr/>
        </p:nvSpPr>
        <p:spPr>
          <a:xfrm>
            <a:off x="7452360" y="1554480"/>
            <a:ext cx="2011680" cy="1143000"/>
          </a:xfrm>
          <a:prstGeom prst="round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algn="l"/>
            <a:r>
              <a:rPr sz="1400" b="1">
                <a:solidFill>
                  <a:srgbClr val="2D2D2D"/>
                </a:solidFill>
                <a:latin typeface="Aptos"/>
              </a:rPr>
              <a:t>Matplotlib / Seaborn</a:t>
            </a:r>
            <a:br/>
            <a:r>
              <a:rPr sz="1400" b="1">
                <a:solidFill>
                  <a:srgbClr val="2D2D2D"/>
                </a:solidFill>
                <a:latin typeface="Aptos"/>
              </a:rPr>
              <a:t>Visualization</a:t>
            </a:r>
          </a:p>
        </p:txBody>
      </p:sp>
      <p:sp>
        <p:nvSpPr>
          <p:cNvPr id="21" name="Rounded Rectangle 20"/>
          <p:cNvSpPr/>
          <p:nvPr/>
        </p:nvSpPr>
        <p:spPr>
          <a:xfrm>
            <a:off x="1828800" y="3063240"/>
            <a:ext cx="2468880" cy="1234440"/>
          </a:xfrm>
          <a:prstGeom prst="round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algn="l"/>
            <a:r>
              <a:rPr sz="1500" b="1">
                <a:solidFill>
                  <a:srgbClr val="2D2D2D"/>
                </a:solidFill>
                <a:latin typeface="Aptos"/>
              </a:rPr>
              <a:t>SciPy</a:t>
            </a:r>
            <a:br/>
            <a:r>
              <a:rPr sz="1500" b="1">
                <a:solidFill>
                  <a:srgbClr val="2D2D2D"/>
                </a:solidFill>
                <a:latin typeface="Aptos"/>
              </a:rPr>
              <a:t>ANOVA &amp; Kruskal–Wallis</a:t>
            </a:r>
          </a:p>
        </p:txBody>
      </p:sp>
      <p:sp>
        <p:nvSpPr>
          <p:cNvPr id="22" name="Rounded Rectangle 21"/>
          <p:cNvSpPr/>
          <p:nvPr/>
        </p:nvSpPr>
        <p:spPr>
          <a:xfrm>
            <a:off x="4572000" y="3063240"/>
            <a:ext cx="2468880" cy="1234440"/>
          </a:xfrm>
          <a:prstGeom prst="round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algn="l"/>
            <a:r>
              <a:rPr sz="1500" b="1">
                <a:solidFill>
                  <a:srgbClr val="2D2D2D"/>
                </a:solidFill>
                <a:latin typeface="Aptos"/>
              </a:rPr>
              <a:t>Scikit-learn</a:t>
            </a:r>
            <a:br/>
            <a:r>
              <a:rPr sz="1500" b="1">
                <a:solidFill>
                  <a:srgbClr val="2D2D2D"/>
                </a:solidFill>
                <a:latin typeface="Aptos"/>
              </a:rPr>
              <a:t>Scaling for composite score</a:t>
            </a:r>
          </a:p>
        </p:txBody>
      </p:sp>
      <p:sp>
        <p:nvSpPr>
          <p:cNvPr id="23" name="Rounded Rectangle 22"/>
          <p:cNvSpPr/>
          <p:nvPr/>
        </p:nvSpPr>
        <p:spPr>
          <a:xfrm>
            <a:off x="7315200" y="3063240"/>
            <a:ext cx="2468880" cy="1234440"/>
          </a:xfrm>
          <a:prstGeom prst="round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algn="l"/>
            <a:r>
              <a:rPr sz="1500" b="1">
                <a:solidFill>
                  <a:srgbClr val="2D2D2D"/>
                </a:solidFill>
                <a:latin typeface="Aptos"/>
              </a:rPr>
              <a:t>Jupyter Notebook</a:t>
            </a:r>
            <a:br/>
            <a:r>
              <a:rPr sz="1500" b="1">
                <a:solidFill>
                  <a:srgbClr val="2D2D2D"/>
                </a:solidFill>
                <a:latin typeface="Aptos"/>
              </a:rPr>
              <a:t>Analysis &amp; reproducibility</a:t>
            </a:r>
          </a:p>
        </p:txBody>
      </p:sp>
    </p:spTree>
    <p:extLst>
      <p:ext uri="{BB962C8B-B14F-4D97-AF65-F5344CB8AC3E}">
        <p14:creationId xmlns:p14="http://schemas.microsoft.com/office/powerpoint/2010/main" val="13419010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sz="3000" b="1"/>
              <a:t>RESULTS</a:t>
            </a:r>
            <a:endParaRPr lang="en-IN" dirty="0"/>
          </a:p>
        </p:txBody>
      </p:sp>
      <p:sp>
        <p:nvSpPr>
          <p:cNvPr id="24" name="Rounded Rectangle 23"/>
          <p:cNvSpPr/>
          <p:nvPr/>
        </p:nvSpPr>
        <p:spPr>
          <a:xfrm>
            <a:off x="594360" y="1325880"/>
            <a:ext cx="3063240" cy="960120"/>
          </a:xfrm>
          <a:prstGeom prst="roundRect">
            <a:avLst/>
          </a:prstGeom>
          <a:solidFill>
            <a:srgbClr val="EFF8FC"/>
          </a:solidFill>
          <a:ln>
            <a:solidFill>
              <a:srgbClr val="AAD2E1"/>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algn="ctr"/>
            <a:r>
              <a:rPr sz="1500" b="1">
                <a:solidFill>
                  <a:srgbClr val="2D2D2D"/>
                </a:solidFill>
                <a:latin typeface="Aptos"/>
              </a:rPr>
              <a:t>Highest average yield</a:t>
            </a:r>
            <a:br/>
            <a:r>
              <a:rPr sz="1500" b="1">
                <a:solidFill>
                  <a:srgbClr val="2D2D2D"/>
                </a:solidFill>
                <a:latin typeface="Aptos"/>
              </a:rPr>
              <a:t>Kharif — 5.63 t/ha</a:t>
            </a:r>
          </a:p>
        </p:txBody>
      </p:sp>
      <p:sp>
        <p:nvSpPr>
          <p:cNvPr id="25" name="Rounded Rectangle 24"/>
          <p:cNvSpPr/>
          <p:nvPr/>
        </p:nvSpPr>
        <p:spPr>
          <a:xfrm>
            <a:off x="3886200" y="1325880"/>
            <a:ext cx="3063240" cy="960120"/>
          </a:xfrm>
          <a:prstGeom prst="roundRect">
            <a:avLst/>
          </a:prstGeom>
          <a:solidFill>
            <a:srgbClr val="EFF8FC"/>
          </a:solidFill>
          <a:ln>
            <a:solidFill>
              <a:srgbClr val="AAD2E1"/>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algn="ctr"/>
            <a:r>
              <a:rPr sz="1500" b="1">
                <a:solidFill>
                  <a:srgbClr val="2D2D2D"/>
                </a:solidFill>
                <a:latin typeface="Aptos"/>
              </a:rPr>
              <a:t>Best weighted margin</a:t>
            </a:r>
            <a:br/>
            <a:r>
              <a:rPr sz="1500" b="1">
                <a:solidFill>
                  <a:srgbClr val="2D2D2D"/>
                </a:solidFill>
                <a:latin typeface="Aptos"/>
              </a:rPr>
              <a:t>Kharif — 25.2%</a:t>
            </a:r>
          </a:p>
        </p:txBody>
      </p:sp>
      <p:sp>
        <p:nvSpPr>
          <p:cNvPr id="26" name="Rounded Rectangle 25"/>
          <p:cNvSpPr/>
          <p:nvPr/>
        </p:nvSpPr>
        <p:spPr>
          <a:xfrm>
            <a:off x="7178040" y="1325880"/>
            <a:ext cx="3063240" cy="960120"/>
          </a:xfrm>
          <a:prstGeom prst="roundRect">
            <a:avLst/>
          </a:prstGeom>
          <a:solidFill>
            <a:srgbClr val="EFF8FC"/>
          </a:solidFill>
          <a:ln>
            <a:solidFill>
              <a:srgbClr val="AAD2E1"/>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algn="ctr"/>
            <a:r>
              <a:rPr sz="1500" b="1">
                <a:solidFill>
                  <a:srgbClr val="2D2D2D"/>
                </a:solidFill>
                <a:latin typeface="Aptos"/>
              </a:rPr>
              <a:t>Highest water efficiency</a:t>
            </a:r>
            <a:br/>
            <a:r>
              <a:rPr sz="1500" b="1">
                <a:solidFill>
                  <a:srgbClr val="2D2D2D"/>
                </a:solidFill>
                <a:latin typeface="Aptos"/>
              </a:rPr>
              <a:t>Kharif — 5.89 t/1000m³</a:t>
            </a:r>
          </a:p>
        </p:txBody>
      </p:sp>
      <p:pic>
        <p:nvPicPr>
          <p:cNvPr id="27" name="Picture 26" descr="overview.png"/>
          <p:cNvPicPr>
            <a:picLocks noChangeAspect="1"/>
          </p:cNvPicPr>
          <p:nvPr/>
        </p:nvPicPr>
        <p:blipFill>
          <a:blip r:embed="rId3"/>
          <a:stretch>
            <a:fillRect/>
          </a:stretch>
        </p:blipFill>
        <p:spPr>
          <a:xfrm>
            <a:off x="685800" y="2514600"/>
            <a:ext cx="4526280" cy="2232965"/>
          </a:xfrm>
          <a:prstGeom prst="rect">
            <a:avLst/>
          </a:prstGeom>
        </p:spPr>
      </p:pic>
      <p:pic>
        <p:nvPicPr>
          <p:cNvPr id="28" name="Picture 27" descr="profit_margin.png"/>
          <p:cNvPicPr>
            <a:picLocks noChangeAspect="1"/>
          </p:cNvPicPr>
          <p:nvPr/>
        </p:nvPicPr>
        <p:blipFill>
          <a:blip r:embed="rId4"/>
          <a:stretch>
            <a:fillRect/>
          </a:stretch>
        </p:blipFill>
        <p:spPr>
          <a:xfrm>
            <a:off x="5349240" y="2514600"/>
            <a:ext cx="4526280" cy="2232965"/>
          </a:xfrm>
          <a:prstGeom prst="rect">
            <a:avLst/>
          </a:prstGeom>
        </p:spPr>
      </p:pic>
      <p:sp>
        <p:nvSpPr>
          <p:cNvPr id="29" name="TextBox 28"/>
          <p:cNvSpPr txBox="1"/>
          <p:nvPr/>
        </p:nvSpPr>
        <p:spPr>
          <a:xfrm>
            <a:off x="777240" y="5440680"/>
            <a:ext cx="8961120" cy="365760"/>
          </a:xfrm>
          <a:prstGeom prst="rect">
            <a:avLst/>
          </a:prstGeom>
          <a:noFill/>
        </p:spPr>
        <p:txBody>
          <a:bodyPr wrap="square">
            <a:spAutoFit/>
          </a:bodyPr>
          <a:lstStyle/>
          <a:p>
            <a:pPr algn="l"/>
            <a:r>
              <a:rPr sz="1200" b="1">
                <a:solidFill>
                  <a:srgbClr val="282828"/>
                </a:solidFill>
                <a:latin typeface="Aptos"/>
              </a:rPr>
              <a:t>Overall pattern: Kharif leads on yield, profitability and water efficiency; Zaid is the weakest on these measures.</a:t>
            </a:r>
          </a:p>
        </p:txBody>
      </p:sp>
    </p:spTree>
    <p:extLst>
      <p:ext uri="{BB962C8B-B14F-4D97-AF65-F5344CB8AC3E}">
        <p14:creationId xmlns:p14="http://schemas.microsoft.com/office/powerpoint/2010/main" val="1086225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sz="3000" b="1"/>
              <a:t>RESULTS</a:t>
            </a:r>
            <a:endParaRPr lang="en-IN" dirty="0"/>
          </a:p>
        </p:txBody>
      </p:sp>
      <p:pic>
        <p:nvPicPr>
          <p:cNvPr id="31" name="Picture 30" descr="code1.png"/>
          <p:cNvPicPr>
            <a:picLocks noChangeAspect="1"/>
          </p:cNvPicPr>
          <p:nvPr/>
        </p:nvPicPr>
        <p:blipFill>
          <a:blip r:embed="rId3"/>
          <a:stretch>
            <a:fillRect/>
          </a:stretch>
        </p:blipFill>
        <p:spPr>
          <a:xfrm>
            <a:off x="502920" y="1234440"/>
            <a:ext cx="4754880" cy="1810989"/>
          </a:xfrm>
          <a:prstGeom prst="rect">
            <a:avLst/>
          </a:prstGeom>
        </p:spPr>
      </p:pic>
      <p:pic>
        <p:nvPicPr>
          <p:cNvPr id="32" name="Picture 31" descr="overview.png"/>
          <p:cNvPicPr>
            <a:picLocks noChangeAspect="1"/>
          </p:cNvPicPr>
          <p:nvPr/>
        </p:nvPicPr>
        <p:blipFill>
          <a:blip r:embed="rId4"/>
          <a:stretch>
            <a:fillRect/>
          </a:stretch>
        </p:blipFill>
        <p:spPr>
          <a:xfrm>
            <a:off x="5532120" y="1234440"/>
            <a:ext cx="4343400" cy="2142744"/>
          </a:xfrm>
          <a:prstGeom prst="rect">
            <a:avLst/>
          </a:prstGeom>
        </p:spPr>
      </p:pic>
      <p:sp>
        <p:nvSpPr>
          <p:cNvPr id="33" name="TextBox 32"/>
          <p:cNvSpPr txBox="1"/>
          <p:nvPr/>
        </p:nvSpPr>
        <p:spPr>
          <a:xfrm>
            <a:off x="685800" y="3794760"/>
            <a:ext cx="9144000" cy="1463040"/>
          </a:xfrm>
          <a:prstGeom prst="rect">
            <a:avLst/>
          </a:prstGeom>
          <a:noFill/>
        </p:spPr>
        <p:txBody>
          <a:bodyPr wrap="square" lIns="45720" rIns="45720">
            <a:spAutoFit/>
          </a:bodyPr>
          <a:lstStyle/>
          <a:p>
            <a:pPr>
              <a:spcAft>
                <a:spcPts val="800"/>
              </a:spcAft>
            </a:pPr>
            <a:r>
              <a:rPr sz="1300">
                <a:solidFill>
                  <a:srgbClr val="2D2D2D"/>
                </a:solidFill>
                <a:latin typeface="Aptos"/>
              </a:rPr>
              <a:t>Kharif: 5.63 t/ha average yield.</a:t>
            </a:r>
          </a:p>
          <a:p>
            <a:pPr>
              <a:spcAft>
                <a:spcPts val="800"/>
              </a:spcAft>
            </a:pPr>
            <a:r>
              <a:rPr sz="1300">
                <a:solidFill>
                  <a:srgbClr val="2D2D2D"/>
                </a:solidFill>
                <a:latin typeface="Aptos"/>
              </a:rPr>
              <a:t>Rabi: 5.04 t/ha; Zaid: 4.64 t/ha.</a:t>
            </a:r>
          </a:p>
          <a:p>
            <a:pPr>
              <a:spcAft>
                <a:spcPts val="800"/>
              </a:spcAft>
            </a:pPr>
            <a:r>
              <a:rPr sz="1300">
                <a:solidFill>
                  <a:srgbClr val="2D2D2D"/>
                </a:solidFill>
                <a:latin typeface="Aptos"/>
              </a:rPr>
              <a:t>Seasonal averages are useful for comparison, but crop mix differs by season, so results should not be read as a pure weather effect.</a:t>
            </a:r>
          </a:p>
        </p:txBody>
      </p:sp>
    </p:spTree>
    <p:extLst>
      <p:ext uri="{BB962C8B-B14F-4D97-AF65-F5344CB8AC3E}">
        <p14:creationId xmlns:p14="http://schemas.microsoft.com/office/powerpoint/2010/main" val="3849627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sz="3000" b="1"/>
              <a:t>RESULTS</a:t>
            </a:r>
            <a:endParaRPr lang="en-IN" dirty="0"/>
          </a:p>
        </p:txBody>
      </p:sp>
      <p:pic>
        <p:nvPicPr>
          <p:cNvPr id="31" name="Picture 30" descr="code3.png"/>
          <p:cNvPicPr>
            <a:picLocks noChangeAspect="1"/>
          </p:cNvPicPr>
          <p:nvPr/>
        </p:nvPicPr>
        <p:blipFill>
          <a:blip r:embed="rId3"/>
          <a:stretch>
            <a:fillRect/>
          </a:stretch>
        </p:blipFill>
        <p:spPr>
          <a:xfrm>
            <a:off x="502920" y="1188720"/>
            <a:ext cx="4754880" cy="1703487"/>
          </a:xfrm>
          <a:prstGeom prst="rect">
            <a:avLst/>
          </a:prstGeom>
        </p:spPr>
      </p:pic>
      <p:pic>
        <p:nvPicPr>
          <p:cNvPr id="32" name="Picture 31" descr="profit_margin.png"/>
          <p:cNvPicPr>
            <a:picLocks noChangeAspect="1"/>
          </p:cNvPicPr>
          <p:nvPr/>
        </p:nvPicPr>
        <p:blipFill>
          <a:blip r:embed="rId4"/>
          <a:stretch>
            <a:fillRect/>
          </a:stretch>
        </p:blipFill>
        <p:spPr>
          <a:xfrm>
            <a:off x="5486400" y="1188720"/>
            <a:ext cx="4297680" cy="2120189"/>
          </a:xfrm>
          <a:prstGeom prst="rect">
            <a:avLst/>
          </a:prstGeom>
        </p:spPr>
      </p:pic>
      <p:sp>
        <p:nvSpPr>
          <p:cNvPr id="33" name="TextBox 32"/>
          <p:cNvSpPr txBox="1"/>
          <p:nvPr/>
        </p:nvSpPr>
        <p:spPr>
          <a:xfrm>
            <a:off x="685800" y="3749039"/>
            <a:ext cx="9144000" cy="1554480"/>
          </a:xfrm>
          <a:prstGeom prst="rect">
            <a:avLst/>
          </a:prstGeom>
          <a:noFill/>
        </p:spPr>
        <p:txBody>
          <a:bodyPr wrap="square" lIns="45720" rIns="45720">
            <a:spAutoFit/>
          </a:bodyPr>
          <a:lstStyle/>
          <a:p>
            <a:pPr>
              <a:spcAft>
                <a:spcPts val="800"/>
              </a:spcAft>
            </a:pPr>
            <a:r>
              <a:rPr sz="1300">
                <a:solidFill>
                  <a:srgbClr val="2D2D2D"/>
                </a:solidFill>
                <a:latin typeface="Aptos"/>
              </a:rPr>
              <a:t>Weighted profit margin: Kharif 25.2%, Rabi 14.6%, Zaid -4.8%.</a:t>
            </a:r>
          </a:p>
          <a:p>
            <a:pPr>
              <a:spcAft>
                <a:spcPts val="800"/>
              </a:spcAft>
            </a:pPr>
            <a:r>
              <a:rPr sz="1300">
                <a:solidFill>
                  <a:srgbClr val="2D2D2D"/>
                </a:solidFill>
                <a:latin typeface="Aptos"/>
              </a:rPr>
              <a:t>Average profit: Kharif ₹178,915; Zaid shows an average loss of ₹24,805.</a:t>
            </a:r>
          </a:p>
          <a:p>
            <a:pPr>
              <a:spcAft>
                <a:spcPts val="800"/>
              </a:spcAft>
            </a:pPr>
            <a:r>
              <a:rPr sz="1300">
                <a:solidFill>
                  <a:srgbClr val="2D2D2D"/>
                </a:solidFill>
                <a:latin typeface="Aptos"/>
              </a:rPr>
              <a:t>Loss-making records: Kharif 42.2%, Rabi 51.1%, Zaid 64.5%.</a:t>
            </a:r>
          </a:p>
        </p:txBody>
      </p:sp>
    </p:spTree>
    <p:extLst>
      <p:ext uri="{BB962C8B-B14F-4D97-AF65-F5344CB8AC3E}">
        <p14:creationId xmlns:p14="http://schemas.microsoft.com/office/powerpoint/2010/main" val="1698901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sz="3000" b="1"/>
              <a:t>RESULTS</a:t>
            </a:r>
            <a:endParaRPr lang="en-IN" dirty="0"/>
          </a:p>
        </p:txBody>
      </p:sp>
      <p:pic>
        <p:nvPicPr>
          <p:cNvPr id="31" name="Picture 30" descr="code2.png"/>
          <p:cNvPicPr>
            <a:picLocks noChangeAspect="1"/>
          </p:cNvPicPr>
          <p:nvPr/>
        </p:nvPicPr>
        <p:blipFill>
          <a:blip r:embed="rId3"/>
          <a:stretch>
            <a:fillRect/>
          </a:stretch>
        </p:blipFill>
        <p:spPr>
          <a:xfrm>
            <a:off x="502920" y="1143000"/>
            <a:ext cx="4754880" cy="1810989"/>
          </a:xfrm>
          <a:prstGeom prst="rect">
            <a:avLst/>
          </a:prstGeom>
        </p:spPr>
      </p:pic>
      <p:pic>
        <p:nvPicPr>
          <p:cNvPr id="32" name="Picture 31" descr="irrigation.png"/>
          <p:cNvPicPr>
            <a:picLocks noChangeAspect="1"/>
          </p:cNvPicPr>
          <p:nvPr/>
        </p:nvPicPr>
        <p:blipFill>
          <a:blip r:embed="rId4"/>
          <a:stretch>
            <a:fillRect/>
          </a:stretch>
        </p:blipFill>
        <p:spPr>
          <a:xfrm>
            <a:off x="5486400" y="1143000"/>
            <a:ext cx="4297680" cy="2120189"/>
          </a:xfrm>
          <a:prstGeom prst="rect">
            <a:avLst/>
          </a:prstGeom>
        </p:spPr>
      </p:pic>
      <p:sp>
        <p:nvSpPr>
          <p:cNvPr id="33" name="TextBox 32"/>
          <p:cNvSpPr txBox="1"/>
          <p:nvPr/>
        </p:nvSpPr>
        <p:spPr>
          <a:xfrm>
            <a:off x="685800" y="3703320"/>
            <a:ext cx="9144000" cy="1645920"/>
          </a:xfrm>
          <a:prstGeom prst="rect">
            <a:avLst/>
          </a:prstGeom>
          <a:noFill/>
        </p:spPr>
        <p:txBody>
          <a:bodyPr wrap="square" lIns="45720" rIns="45720">
            <a:spAutoFit/>
          </a:bodyPr>
          <a:lstStyle/>
          <a:p>
            <a:pPr>
              <a:spcAft>
                <a:spcPts val="800"/>
              </a:spcAft>
            </a:pPr>
            <a:r>
              <a:rPr sz="1300">
                <a:solidFill>
                  <a:srgbClr val="2D2D2D"/>
                </a:solidFill>
                <a:latin typeface="Aptos"/>
              </a:rPr>
              <a:t>Average water efficiency: Kharif 5.89, Rabi 5.19, Zaid 4.41 tonnes per 1000 m³.</a:t>
            </a:r>
          </a:p>
          <a:p>
            <a:pPr>
              <a:spcAft>
                <a:spcPts val="800"/>
              </a:spcAft>
            </a:pPr>
            <a:r>
              <a:rPr sz="1300">
                <a:solidFill>
                  <a:srgbClr val="2D2D2D"/>
                </a:solidFill>
                <a:latin typeface="Aptos"/>
              </a:rPr>
              <a:t>Kharif has the strongest combined yield and water-efficiency performance in this dataset.</a:t>
            </a:r>
          </a:p>
          <a:p>
            <a:pPr>
              <a:spcAft>
                <a:spcPts val="800"/>
              </a:spcAft>
            </a:pPr>
            <a:r>
              <a:rPr sz="1300">
                <a:solidFill>
                  <a:srgbClr val="2D2D2D"/>
                </a:solidFill>
                <a:latin typeface="Aptos"/>
              </a:rPr>
              <a:t>Irrigation methods vary across seasons, providing context for resource-use differences.</a:t>
            </a:r>
          </a:p>
        </p:txBody>
      </p:sp>
    </p:spTree>
    <p:extLst>
      <p:ext uri="{BB962C8B-B14F-4D97-AF65-F5344CB8AC3E}">
        <p14:creationId xmlns:p14="http://schemas.microsoft.com/office/powerpoint/2010/main" val="1903979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sz="3000" b="1"/>
              <a:t>RESULTS</a:t>
            </a:r>
            <a:endParaRPr lang="en-IN" dirty="0"/>
          </a:p>
        </p:txBody>
      </p:sp>
      <p:pic>
        <p:nvPicPr>
          <p:cNvPr id="31" name="Picture 30" descr="code4.png"/>
          <p:cNvPicPr>
            <a:picLocks noChangeAspect="1"/>
          </p:cNvPicPr>
          <p:nvPr/>
        </p:nvPicPr>
        <p:blipFill>
          <a:blip r:embed="rId3"/>
          <a:stretch>
            <a:fillRect/>
          </a:stretch>
        </p:blipFill>
        <p:spPr>
          <a:xfrm>
            <a:off x="502920" y="1143000"/>
            <a:ext cx="4754880" cy="1926760"/>
          </a:xfrm>
          <a:prstGeom prst="rect">
            <a:avLst/>
          </a:prstGeom>
        </p:spPr>
      </p:pic>
      <p:pic>
        <p:nvPicPr>
          <p:cNvPr id="32" name="Picture 31" descr="crop_heatmap.png"/>
          <p:cNvPicPr>
            <a:picLocks noChangeAspect="1"/>
          </p:cNvPicPr>
          <p:nvPr/>
        </p:nvPicPr>
        <p:blipFill>
          <a:blip r:embed="rId4"/>
          <a:stretch>
            <a:fillRect/>
          </a:stretch>
        </p:blipFill>
        <p:spPr>
          <a:xfrm>
            <a:off x="5486400" y="1051560"/>
            <a:ext cx="4297680" cy="2521306"/>
          </a:xfrm>
          <a:prstGeom prst="rect">
            <a:avLst/>
          </a:prstGeom>
        </p:spPr>
      </p:pic>
      <p:sp>
        <p:nvSpPr>
          <p:cNvPr id="33" name="TextBox 32"/>
          <p:cNvSpPr txBox="1"/>
          <p:nvPr/>
        </p:nvSpPr>
        <p:spPr>
          <a:xfrm>
            <a:off x="685800" y="3657600"/>
            <a:ext cx="9144000" cy="1691640"/>
          </a:xfrm>
          <a:prstGeom prst="rect">
            <a:avLst/>
          </a:prstGeom>
          <a:noFill/>
        </p:spPr>
        <p:txBody>
          <a:bodyPr wrap="square" lIns="45720" rIns="45720">
            <a:spAutoFit/>
          </a:bodyPr>
          <a:lstStyle/>
          <a:p>
            <a:pPr>
              <a:spcAft>
                <a:spcPts val="800"/>
              </a:spcAft>
            </a:pPr>
            <a:r>
              <a:rPr sz="1200">
                <a:solidFill>
                  <a:srgbClr val="2D2D2D"/>
                </a:solidFill>
                <a:latin typeface="Aptos"/>
              </a:rPr>
              <a:t>Yield ANOVA: p = 0.214 (not significant at 5%).</a:t>
            </a:r>
          </a:p>
          <a:p>
            <a:pPr>
              <a:spcAft>
                <a:spcPts val="800"/>
              </a:spcAft>
            </a:pPr>
            <a:r>
              <a:rPr sz="1200">
                <a:solidFill>
                  <a:srgbClr val="2D2D2D"/>
                </a:solidFill>
                <a:latin typeface="Aptos"/>
              </a:rPr>
              <a:t>Kruskal–Wallis yield test: p &lt; 0.001, indicating a significant difference in yield distributions across seasons.</a:t>
            </a:r>
          </a:p>
          <a:p>
            <a:pPr>
              <a:spcAft>
                <a:spcPts val="800"/>
              </a:spcAft>
            </a:pPr>
            <a:r>
              <a:rPr sz="1200">
                <a:solidFill>
                  <a:srgbClr val="2D2D2D"/>
                </a:solidFill>
                <a:latin typeface="Aptos"/>
              </a:rPr>
              <a:t>Profit differences are also statistically significant (ANOVA p &lt; 0.001).</a:t>
            </a:r>
          </a:p>
          <a:p>
            <a:pPr>
              <a:spcAft>
                <a:spcPts val="800"/>
              </a:spcAft>
            </a:pPr>
            <a:r>
              <a:rPr sz="1200">
                <a:solidFill>
                  <a:srgbClr val="2D2D2D"/>
                </a:solidFill>
                <a:latin typeface="Aptos"/>
              </a:rPr>
              <a:t>Correlation analysis shows water used has the strongest direct association with yield (r ≈ 0.39); this is an association, not proof of causation.</a:t>
            </a:r>
          </a:p>
        </p:txBody>
      </p:sp>
    </p:spTree>
    <p:extLst>
      <p:ext uri="{BB962C8B-B14F-4D97-AF65-F5344CB8AC3E}">
        <p14:creationId xmlns:p14="http://schemas.microsoft.com/office/powerpoint/2010/main" val="1421522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sz="3000" b="1"/>
              <a:t>Future scope</a:t>
            </a:r>
          </a:p>
        </p:txBody>
      </p:sp>
      <p:sp>
        <p:nvSpPr>
          <p:cNvPr id="24" name="TextBox 23"/>
          <p:cNvSpPr txBox="1"/>
          <p:nvPr/>
        </p:nvSpPr>
        <p:spPr>
          <a:xfrm>
            <a:off x="731520" y="1325880"/>
            <a:ext cx="9144000" cy="3840480"/>
          </a:xfrm>
          <a:prstGeom prst="rect">
            <a:avLst/>
          </a:prstGeom>
          <a:noFill/>
        </p:spPr>
        <p:txBody>
          <a:bodyPr wrap="square" lIns="45720" rIns="45720">
            <a:spAutoFit/>
          </a:bodyPr>
          <a:lstStyle/>
          <a:p>
            <a:pPr>
              <a:spcAft>
                <a:spcPts val="800"/>
              </a:spcAft>
            </a:pPr>
            <a:r>
              <a:rPr sz="1600">
                <a:solidFill>
                  <a:srgbClr val="2D2D2D"/>
                </a:solidFill>
                <a:latin typeface="Aptos"/>
              </a:rPr>
              <a:t>Build an interactive dashboard in Power BI or Tableau for season, crop and state-level filtering.</a:t>
            </a:r>
          </a:p>
          <a:p>
            <a:pPr>
              <a:spcAft>
                <a:spcPts val="800"/>
              </a:spcAft>
            </a:pPr>
            <a:r>
              <a:rPr sz="1600">
                <a:solidFill>
                  <a:srgbClr val="2D2D2D"/>
                </a:solidFill>
                <a:latin typeface="Aptos"/>
              </a:rPr>
              <a:t>Add multi-year historical data to study trends rather than a single dataset snapshot.</a:t>
            </a:r>
          </a:p>
          <a:p>
            <a:pPr>
              <a:spcAft>
                <a:spcPts val="800"/>
              </a:spcAft>
            </a:pPr>
            <a:r>
              <a:rPr sz="1600">
                <a:solidFill>
                  <a:srgbClr val="2D2D2D"/>
                </a:solidFill>
                <a:latin typeface="Aptos"/>
              </a:rPr>
              <a:t>Use weather forecasts and soil sensors for near-real-time decision support.</a:t>
            </a:r>
          </a:p>
          <a:p>
            <a:pPr>
              <a:spcAft>
                <a:spcPts val="800"/>
              </a:spcAft>
            </a:pPr>
            <a:r>
              <a:rPr sz="1600">
                <a:solidFill>
                  <a:srgbClr val="2D2D2D"/>
                </a:solidFill>
                <a:latin typeface="Aptos"/>
              </a:rPr>
              <a:t>Develop predictive models for yield, profitability and water requirement.</a:t>
            </a:r>
          </a:p>
          <a:p>
            <a:pPr>
              <a:spcAft>
                <a:spcPts val="800"/>
              </a:spcAft>
            </a:pPr>
            <a:r>
              <a:rPr sz="1600">
                <a:solidFill>
                  <a:srgbClr val="2D2D2D"/>
                </a:solidFill>
                <a:latin typeface="Aptos"/>
              </a:rPr>
              <a:t>Include market-price forecasting and crop-selection recommendations.</a:t>
            </a:r>
          </a:p>
          <a:p>
            <a:pPr>
              <a:spcAft>
                <a:spcPts val="800"/>
              </a:spcAft>
            </a:pPr>
            <a:r>
              <a:rPr sz="1600">
                <a:solidFill>
                  <a:srgbClr val="2D2D2D"/>
                </a:solidFill>
                <a:latin typeface="Aptos"/>
              </a:rPr>
              <a:t>Validate findings with field-level domain expertise before operational use.</a:t>
            </a:r>
          </a:p>
        </p:txBody>
      </p:sp>
    </p:spTree>
    <p:extLst>
      <p:ext uri="{BB962C8B-B14F-4D97-AF65-F5344CB8AC3E}">
        <p14:creationId xmlns:p14="http://schemas.microsoft.com/office/powerpoint/2010/main" val="776828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sz="3000" b="1"/>
              <a:t>GitHub Link</a:t>
            </a:r>
          </a:p>
        </p:txBody>
      </p:sp>
      <p:sp>
        <p:nvSpPr>
          <p:cNvPr id="24" name="TextBox 23"/>
          <p:cNvSpPr txBox="1"/>
          <p:nvPr/>
        </p:nvSpPr>
        <p:spPr>
          <a:xfrm>
            <a:off x="914400" y="1828800"/>
            <a:ext cx="8412480" cy="731520"/>
          </a:xfrm>
          <a:prstGeom prst="rect">
            <a:avLst/>
          </a:prstGeom>
          <a:noFill/>
        </p:spPr>
        <p:txBody>
          <a:bodyPr wrap="square">
            <a:spAutoFit/>
          </a:bodyPr>
          <a:lstStyle/>
          <a:p>
            <a:pPr algn="l"/>
            <a:r>
              <a:rPr sz="1800" b="1">
                <a:solidFill>
                  <a:srgbClr val="282828"/>
                </a:solidFill>
                <a:latin typeface="Aptos"/>
              </a:rPr>
              <a:t>Project repository:</a:t>
            </a:r>
          </a:p>
        </p:txBody>
      </p:sp>
      <p:sp>
        <p:nvSpPr>
          <p:cNvPr id="3" name="TextBox 2">
            <a:extLst>
              <a:ext uri="{FF2B5EF4-FFF2-40B4-BE49-F238E27FC236}">
                <a16:creationId xmlns:a16="http://schemas.microsoft.com/office/drawing/2014/main" id="{7539B6B8-A1A9-C5FC-728A-62BEF7359593}"/>
              </a:ext>
            </a:extLst>
          </p:cNvPr>
          <p:cNvSpPr txBox="1"/>
          <p:nvPr/>
        </p:nvSpPr>
        <p:spPr>
          <a:xfrm>
            <a:off x="1280159" y="2300438"/>
            <a:ext cx="8604985" cy="923330"/>
          </a:xfrm>
          <a:prstGeom prst="rect">
            <a:avLst/>
          </a:prstGeom>
          <a:noFill/>
        </p:spPr>
        <p:txBody>
          <a:bodyPr wrap="square" rtlCol="0">
            <a:spAutoFit/>
          </a:bodyPr>
          <a:lstStyle/>
          <a:p>
            <a:r>
              <a:rPr lang="en-IN" dirty="0" err="1">
                <a:hlinkClick r:id="rId3"/>
              </a:rPr>
              <a:t>MrunalKanade</a:t>
            </a:r>
            <a:r>
              <a:rPr lang="en-IN" dirty="0">
                <a:hlinkClick r:id="rId3"/>
              </a:rPr>
              <a:t>/Seasonal-Agriculture-Performance-Analysis: Data analytics project </a:t>
            </a:r>
            <a:r>
              <a:rPr lang="en-IN" dirty="0" err="1">
                <a:hlinkClick r:id="rId3"/>
              </a:rPr>
              <a:t>analyzing</a:t>
            </a:r>
            <a:r>
              <a:rPr lang="en-IN" dirty="0">
                <a:hlinkClick r:id="rId3"/>
              </a:rPr>
              <a:t> seasonal agricultural performance using Python, statistical analysis and data visualization.</a:t>
            </a:r>
            <a:endParaRPr lang="en-IN" dirty="0"/>
          </a:p>
        </p:txBody>
      </p:sp>
    </p:spTree>
    <p:extLst>
      <p:ext uri="{BB962C8B-B14F-4D97-AF65-F5344CB8AC3E}">
        <p14:creationId xmlns:p14="http://schemas.microsoft.com/office/powerpoint/2010/main" val="38636104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a:bodyPr>
          <a:lstStyle/>
          <a:p>
            <a:r>
              <a:rPr sz="2400" b="1"/>
              <a:t>VOIS Course Completion Certificate</a:t>
            </a:r>
            <a:br/>
            <a:r>
              <a:rPr sz="2400" b="1"/>
              <a:t>Course name – Data Visualization</a:t>
            </a:r>
          </a:p>
        </p:txBody>
      </p:sp>
      <p:pic>
        <p:nvPicPr>
          <p:cNvPr id="3" name="Picture 2">
            <a:extLst>
              <a:ext uri="{FF2B5EF4-FFF2-40B4-BE49-F238E27FC236}">
                <a16:creationId xmlns:a16="http://schemas.microsoft.com/office/drawing/2014/main" id="{4B99FD7C-1142-601D-E69D-B250F5B4C0EF}"/>
              </a:ext>
            </a:extLst>
          </p:cNvPr>
          <p:cNvPicPr>
            <a:picLocks noChangeAspect="1"/>
          </p:cNvPicPr>
          <p:nvPr/>
        </p:nvPicPr>
        <p:blipFill>
          <a:blip r:embed="rId3"/>
          <a:stretch>
            <a:fillRect/>
          </a:stretch>
        </p:blipFill>
        <p:spPr>
          <a:xfrm>
            <a:off x="1915427" y="1255246"/>
            <a:ext cx="8051097" cy="4920269"/>
          </a:xfrm>
          <a:prstGeom prst="rect">
            <a:avLst/>
          </a:prstGeom>
        </p:spPr>
      </p:pic>
    </p:spTree>
    <p:extLst>
      <p:ext uri="{BB962C8B-B14F-4D97-AF65-F5344CB8AC3E}">
        <p14:creationId xmlns:p14="http://schemas.microsoft.com/office/powerpoint/2010/main" val="39628022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a:bodyPr>
          <a:lstStyle/>
          <a:p>
            <a:pPr algn="ctr"/>
            <a:r>
              <a:rPr sz="3400" b="1"/>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1514</TotalTime>
  <Words>686</Words>
  <Application>Microsoft Office PowerPoint</Application>
  <PresentationFormat>Widescreen</PresentationFormat>
  <Paragraphs>59</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Aptos</vt:lpstr>
      <vt:lpstr>Arial</vt:lpstr>
      <vt:lpstr>Calibri</vt:lpstr>
      <vt:lpstr>Trebuchet MS</vt:lpstr>
      <vt:lpstr>Wingdings</vt:lpstr>
      <vt:lpstr>Wingdings 3</vt:lpstr>
      <vt:lpstr>Facet</vt:lpstr>
      <vt:lpstr>Seasonal Agriculture Performance Analysis</vt:lpstr>
      <vt:lpstr>PROBLEM STATEMENT</vt:lpstr>
      <vt:lpstr>Project Description</vt:lpstr>
      <vt:lpstr>WHO ARE THE END USERS?</vt:lpstr>
      <vt:lpstr>Technology Used</vt:lpstr>
      <vt:lpstr>RESULTS</vt:lpstr>
      <vt:lpstr>RESULTS</vt:lpstr>
      <vt:lpstr>RESULTS</vt:lpstr>
      <vt:lpstr>RESULTS</vt:lpstr>
      <vt:lpstr>RESULTS</vt:lpstr>
      <vt:lpstr>Future scope</vt:lpstr>
      <vt:lpstr>GitHub Link</vt:lpstr>
      <vt:lpstr>VOIS Course Completion Certificate Course name – Data Visualization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M K</cp:lastModifiedBy>
  <cp:revision>99</cp:revision>
  <dcterms:created xsi:type="dcterms:W3CDTF">2021-07-11T13:13:15Z</dcterms:created>
  <dcterms:modified xsi:type="dcterms:W3CDTF">2026-09-05T12:55:53Z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